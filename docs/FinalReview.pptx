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69" r:id="rId3"/>
    <p:sldId id="257" r:id="rId4"/>
    <p:sldId id="274" r:id="rId5"/>
    <p:sldId id="282" r:id="rId6"/>
    <p:sldId id="275" r:id="rId7"/>
    <p:sldId id="276" r:id="rId8"/>
    <p:sldId id="273" r:id="rId9"/>
    <p:sldId id="281" r:id="rId10"/>
    <p:sldId id="277" r:id="rId11"/>
    <p:sldId id="278" r:id="rId12"/>
    <p:sldId id="268" r:id="rId13"/>
    <p:sldId id="271" r:id="rId14"/>
    <p:sldId id="283" r:id="rId15"/>
    <p:sldId id="284" r:id="rId16"/>
    <p:sldId id="285" r:id="rId17"/>
    <p:sldId id="286" r:id="rId18"/>
    <p:sldId id="280" r:id="rId19"/>
    <p:sldId id="287" r:id="rId20"/>
    <p:sldId id="288" r:id="rId21"/>
    <p:sldId id="289" r:id="rId22"/>
    <p:sldId id="290" r:id="rId23"/>
    <p:sldId id="265" r:id="rId24"/>
    <p:sldId id="291" r:id="rId25"/>
    <p:sldId id="266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notesMaster" Target="notesMasters/notesMaster1.xml" /><Relationship Id="rId3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xinjoy/Criminal-Profiling-Using-OSINT-Environmental-Infrastructure-Crimes-" TargetMode="External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Cambria"/>
                <a:ea typeface="Cambria"/>
              </a:rPr>
              <a:t>Criminal Profiling Using OSINT(Environmental &amp; Infrastructure Crimes)</a:t>
            </a:r>
            <a:endParaRPr lang="en-GB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721840"/>
            <a:ext cx="5514300" cy="1812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lang="en-IN"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</a:t>
            </a:r>
            <a:r>
              <a:rPr lang="en-IN" sz="1700" b="1" i="0" u="none" strike="noStrike" cap="none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Mohaideen</a:t>
            </a: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4105484809"/>
              </p:ext>
            </p:extLst>
          </p:nvPr>
        </p:nvGraphicFramePr>
        <p:xfrm>
          <a:off x="553347" y="2721840"/>
          <a:ext cx="5418675" cy="2560388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819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1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 20221CSE0013 </a:t>
                      </a:r>
                      <a:endParaRPr lang="en-US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Albin Joy</a:t>
                      </a: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1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 20221CSE0016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noProof="0" dirty="0">
                          <a:latin typeface="Bookman Old Style"/>
                        </a:rPr>
                        <a:t>Shasank M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818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 20221CSE0059</a:t>
                      </a:r>
                      <a:endParaRPr sz="1800" u="none" strike="noStrike" cap="none" dirty="0"/>
                    </a:p>
                  </a:txBody>
                  <a:tcPr marL="91450" marR="91450" marT="45724" marB="45724" anchor="ctr">
                    <a:lnL w="9524">
                      <a:solidFill>
                        <a:srgbClr val="000000">
                          <a:alpha val="0"/>
                        </a:srgbClr>
                      </a:solidFill>
                    </a:lnL>
                    <a:lnR w="9524">
                      <a:solidFill>
                        <a:srgbClr val="000000">
                          <a:alpha val="0"/>
                        </a:srgbClr>
                      </a:solidFill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noProof="0">
                          <a:latin typeface="Bookman Old Style"/>
                        </a:rPr>
                        <a:t>Madhan D</a:t>
                      </a:r>
                      <a:endParaRPr sz="1800" b="0" i="0" u="none" strike="noStrike" cap="none" noProof="0" dirty="0">
                        <a:latin typeface="Bookman Old Style"/>
                      </a:endParaRPr>
                    </a:p>
                  </a:txBody>
                  <a:tcPr marL="91450" marR="91450" marT="45724" marB="45724" anchor="ctr">
                    <a:lnL w="9524">
                      <a:solidFill>
                        <a:srgbClr val="000000">
                          <a:alpha val="0"/>
                        </a:srgbClr>
                      </a:solidFill>
                    </a:lnL>
                    <a:lnR w="9524">
                      <a:solidFill>
                        <a:srgbClr val="000000">
                          <a:alpha val="0"/>
                        </a:srgbClr>
                      </a:solidFill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8898278"/>
                  </a:ext>
                </a:extLst>
              </a:tr>
              <a:tr h="26581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4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4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81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81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IN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IN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IN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</a:t>
            </a:r>
            <a:r>
              <a:rPr lang="en-IN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Blessed Prince</a:t>
            </a:r>
            <a:endParaRPr lang="en-US" sz="1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</a:t>
            </a:r>
            <a:r>
              <a:rPr lang="en-IN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Muthuraju</a:t>
            </a:r>
            <a:r>
              <a:rPr lang="en-IN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V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/>
                <a:ea typeface="Cambria"/>
              </a:rPr>
              <a:t>Category (Hardware / Software / Both) : Software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Cambria"/>
                <a:ea typeface="Cambria"/>
              </a:rPr>
              <a:t>Problem Description:</a:t>
            </a:r>
            <a:r>
              <a:rPr lang="en-IN" dirty="0">
                <a:latin typeface="Cambria"/>
                <a:ea typeface="Cambria"/>
              </a:rPr>
              <a:t>   PSCS_586 Criminal Profiling Using </a:t>
            </a:r>
            <a:r>
              <a:rPr lang="en-IN" dirty="0" err="1">
                <a:latin typeface="Cambria"/>
                <a:ea typeface="Cambria"/>
              </a:rPr>
              <a:t>Osint</a:t>
            </a:r>
            <a:r>
              <a:rPr lang="en-IN" dirty="0">
                <a:latin typeface="Cambria"/>
                <a:ea typeface="Cambria"/>
              </a:rPr>
              <a:t> (Open Source Intelligence Tools) Security This problem invites the development of a novel solution leveraging digital technology to address societal or administrative challenges within public services, sustainability, or governance.</a:t>
            </a:r>
          </a:p>
          <a:p>
            <a:pPr marL="0" indent="0">
              <a:buNone/>
            </a:pPr>
            <a:r>
              <a:rPr lang="en-IN" dirty="0">
                <a:latin typeface="Cambria"/>
                <a:ea typeface="Cambria"/>
              </a:rPr>
              <a:t>
SDG 13 – Climate  Action,</a:t>
            </a:r>
          </a:p>
          <a:p>
            <a:pPr marL="0" indent="0">
              <a:buNone/>
            </a:pPr>
            <a:r>
              <a:rPr lang="en-IN" dirty="0">
                <a:latin typeface="Cambria"/>
                <a:ea typeface="Cambria"/>
              </a:rPr>
              <a:t>SDG 9 – Industry, Innovation and Infrastructure</a:t>
            </a:r>
            <a:endParaRPr lang="en-US" dirty="0">
              <a:latin typeface="Cambria"/>
              <a:ea typeface="Cambria"/>
            </a:endParaRPr>
          </a:p>
          <a:p>
            <a:pPr marL="0" indent="0">
              <a:buNone/>
            </a:pPr>
            <a:endParaRPr lang="en-US" dirty="0"/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</a:pPr>
            <a:endParaRPr lang="en-US" sz="28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dirty="0">
                <a:latin typeface="Cambria"/>
                <a:ea typeface="Cambria"/>
              </a:rPr>
              <a:t>Problem Statement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24069"/>
            <a:ext cx="10668000" cy="4266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Environmental and infrastructure crimes such as illegal deforestation, industrial pollution, and unregulated land use often occur in remote regions.
These crimes leave multiple digital traces across satellites, fire-alert systems, and global registries.
The problem is: there is no unified system that correlates these diverse signals into a single “forensic dossier.”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ABA18-8989-87FC-70B3-0AAB2E927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Goal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00BF5-A396-A6D6-9ACC-7977E73EC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820" y="1143001"/>
            <a:ext cx="11844130" cy="4784979"/>
          </a:xfrm>
        </p:spPr>
        <p:txBody>
          <a:bodyPr>
            <a:normAutofit/>
          </a:bodyPr>
          <a:lstStyle/>
          <a:p>
            <a:r>
              <a:rPr lang="en-IN" dirty="0"/>
              <a:t>Build a clean, runnable </a:t>
            </a:r>
            <a:r>
              <a:rPr lang="en-IN" dirty="0" err="1"/>
              <a:t>FastAPI</a:t>
            </a:r>
            <a:r>
              <a:rPr lang="en-IN" dirty="0"/>
              <a:t> backend + React/Tailwind dashboard that automatically compiles a cross-validated forensic dossier linking:
Environmental damage
Satellite indicators
Fire events
Industrial presence
Corporate entities
Public sentiment &amp; evidence chain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609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13E86-F3F9-E1EA-EB4A-F0CE80FE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&amp;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A4F88-4DC4-C698-E074-525B42914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76200" indent="0">
              <a:buNone/>
            </a:pPr>
            <a:r>
              <a:rPr lang="en-IN" sz="3200" dirty="0">
                <a:latin typeface="Calibri"/>
                <a:ea typeface="Calibri"/>
                <a:cs typeface="Calibri"/>
              </a:rPr>
              <a:t>Scope:</a:t>
            </a:r>
          </a:p>
          <a:p>
            <a:pPr marL="590550" indent="-514350">
              <a:buFont typeface="+mj-lt"/>
              <a:buAutoNum type="arabicPeriod"/>
            </a:pPr>
            <a:r>
              <a:rPr lang="en-IN" sz="3200" dirty="0">
                <a:latin typeface="Calibri"/>
                <a:ea typeface="Calibri"/>
                <a:cs typeface="Calibri"/>
              </a:rPr>
              <a:t>Environmental crime detection
Infrastructure &amp; company profiling
Satellite-based verification
Cross-source correlation</a:t>
            </a:r>
          </a:p>
          <a:p>
            <a:pPr marL="533400" indent="-457200"/>
            <a:endParaRPr lang="en-IN" sz="3200" dirty="0">
              <a:latin typeface="Calibri"/>
              <a:ea typeface="Calibri"/>
              <a:cs typeface="Calibri"/>
            </a:endParaRPr>
          </a:p>
          <a:p>
            <a:pPr marL="76200" indent="0">
              <a:buNone/>
            </a:pPr>
            <a:r>
              <a:rPr lang="en-IN" sz="3200" dirty="0">
                <a:latin typeface="Calibri"/>
                <a:ea typeface="Calibri"/>
                <a:cs typeface="Calibri"/>
              </a:rPr>
              <a:t>Objectives:</a:t>
            </a:r>
          </a:p>
          <a:p>
            <a:pPr marL="590550" indent="-514350">
              <a:buFont typeface="+mj-lt"/>
              <a:buAutoNum type="arabicPeriod"/>
            </a:pPr>
            <a:r>
              <a:rPr lang="en-IN" sz="3200" dirty="0">
                <a:latin typeface="Calibri"/>
                <a:ea typeface="Calibri"/>
                <a:cs typeface="Calibri"/>
              </a:rPr>
              <a:t> Detect fires, forest loss &amp; alerts
 Identify nearby industries
 Enrich companies with LEI/registry data
 Fetch public sentiment (news, GDELT, </a:t>
            </a:r>
            <a:r>
              <a:rPr lang="en-IN" sz="3200" dirty="0" err="1">
                <a:latin typeface="Calibri"/>
                <a:ea typeface="Calibri"/>
                <a:cs typeface="Calibri"/>
              </a:rPr>
              <a:t>Reddit</a:t>
            </a:r>
            <a:r>
              <a:rPr lang="en-IN" sz="3200" dirty="0">
                <a:latin typeface="Calibri"/>
                <a:ea typeface="Calibri"/>
                <a:cs typeface="Calibri"/>
              </a:rPr>
              <a:t>)
 Build evidence chain &amp; confidence score
 Render interactive investigation dashboard</a:t>
            </a:r>
            <a:endParaRPr lang="en-US" sz="32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130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7390D-DF6E-6841-48C7-1161FDDF3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&amp; Related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B0AC7-8054-307B-8B74-3600A97E8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186" y="1218726"/>
            <a:ext cx="11084497" cy="3916491"/>
          </a:xfrm>
        </p:spPr>
        <p:txBody>
          <a:bodyPr>
            <a:normAutofit/>
          </a:bodyPr>
          <a:lstStyle/>
          <a:p>
            <a:r>
              <a:rPr lang="en-IN" sz="2800" dirty="0"/>
              <a:t>NASA FIRMS provides global fire alerts
Hansen GFC provides annual forest loss
GFW GLAD &amp; RADD provide near real-time deforestation
Sentinel Hub enables NDVI/NBR/burn index
OSINT methods are widely used in cyber forensics, but rarely unified for environmental crime
This project brings all data sources together into one investigation engine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34094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Innovation &amp; Novel Contributions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buNone/>
            </a:pPr>
            <a:r>
              <a:rPr lang="en-IN" sz="2800" dirty="0"/>
              <a:t>First “</a:t>
            </a:r>
            <a:r>
              <a:rPr lang="en-IN" sz="2800" b="1" dirty="0"/>
              <a:t>Forensic Dossier Builder</a:t>
            </a:r>
            <a:r>
              <a:rPr lang="en-IN" sz="2800" dirty="0"/>
              <a:t>” for environmental crimes
Multi-satellite validation (NDVI, NBR, burn severity)
Correlation engine linking events + sentiment + infrastructure</a:t>
            </a:r>
          </a:p>
          <a:p>
            <a:pPr marL="0" indent="0" algn="just">
              <a:buNone/>
            </a:pPr>
            <a:r>
              <a:rPr lang="en-IN" sz="2800" dirty="0"/>
              <a:t>Evidence Chain (human-readable)
Confidence scoring system (0–100)
UI that visualizes multi-layer satellite evidence
Graceful handling of limited dataset coverage (GLAD/RADD tropical bias)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D4A58-34C7-A455-C017-99232FCE2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/>
                <a:ea typeface="Cambria"/>
              </a:rPr>
              <a:t>Primary Data Sources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AB671-D567-D5E6-CB9F-B0BE4E8DA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10423"/>
            <a:ext cx="9978256" cy="4628242"/>
          </a:xfrm>
        </p:spPr>
        <p:txBody>
          <a:bodyPr>
            <a:noAutofit/>
          </a:bodyPr>
          <a:lstStyle/>
          <a:p>
            <a:pPr algn="just"/>
            <a:r>
              <a:rPr lang="en-IN" dirty="0"/>
              <a:t>Hansen GFC — global forest loss
NASA FIRMS — MODIS/VIIRS fire points
GFW GLAD Alerts — optical deforestation (tropics)
GFW RADD Alerts — radar deforestation
Sentinel Hub API — NDVI, NBR, burn index, true </a:t>
            </a:r>
            <a:r>
              <a:rPr lang="en-IN" dirty="0" err="1"/>
              <a:t>color</a:t>
            </a:r>
            <a:r>
              <a:rPr lang="en-IN" dirty="0"/>
              <a:t>
Overpass (OSM) — factories / industrial nodes
GLEIF API — company enrichment
Google Custom Search API — targeted news
GDELT — global media tone
</a:t>
            </a:r>
            <a:r>
              <a:rPr lang="en-IN" dirty="0" err="1"/>
              <a:t>Reddit</a:t>
            </a:r>
            <a:r>
              <a:rPr lang="en-IN" dirty="0"/>
              <a:t> API — public community sentiment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845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5750D-AAD9-91F8-3841-E4A50A72B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Non-Functional Requirements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7C7BC-CA40-19F7-DCFE-67AD76F13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90550" indent="-514350">
              <a:buFont typeface="+mj-lt"/>
              <a:buAutoNum type="arabicPeriod"/>
            </a:pPr>
            <a:r>
              <a:rPr lang="en-IN" sz="2800" dirty="0"/>
              <a:t>Python 3.10+, </a:t>
            </a:r>
            <a:r>
              <a:rPr lang="en-IN" sz="2800" dirty="0" err="1"/>
              <a:t>FastAPI</a:t>
            </a:r>
            <a:r>
              <a:rPr lang="en-IN" sz="2800" dirty="0"/>
              <a:t>, </a:t>
            </a:r>
            <a:r>
              <a:rPr lang="en-IN" sz="2800" dirty="0" err="1"/>
              <a:t>async</a:t>
            </a:r>
            <a:r>
              <a:rPr lang="en-IN" sz="2800" dirty="0"/>
              <a:t> </a:t>
            </a:r>
            <a:r>
              <a:rPr lang="en-IN" sz="2800" dirty="0" err="1"/>
              <a:t>httpx</a:t>
            </a:r>
            <a:r>
              <a:rPr lang="en-IN" sz="2800" dirty="0"/>
              <a:t>
EPSG:4326 normalization
12-sec timeout (15s for Sentinel)
Retry/</a:t>
            </a:r>
            <a:r>
              <a:rPr lang="en-IN" sz="2800" dirty="0" err="1"/>
              <a:t>backoff</a:t>
            </a:r>
            <a:r>
              <a:rPr lang="en-IN" sz="2800" dirty="0"/>
              <a:t> → 1s, 2s, 4s
No caching
Raw API responses saved
Centralized logger (</a:t>
            </a:r>
            <a:r>
              <a:rPr lang="en-IN" sz="2800" dirty="0" err="1"/>
              <a:t>logger_config.py</a:t>
            </a:r>
            <a:r>
              <a:rPr lang="en-IN" sz="2800" dirty="0"/>
              <a:t>)
Uniform API error model (</a:t>
            </a:r>
            <a:r>
              <a:rPr lang="en-IN" sz="2800" dirty="0" err="1"/>
              <a:t>source_errors</a:t>
            </a:r>
            <a:r>
              <a:rPr lang="en-IN" sz="2800" dirty="0"/>
              <a:t>[])
Dataset coverage awareness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69199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BD811-E231-FFE4-0B48-BE50CFC24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Backend Architecture Overview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B4DA5-3F57-2AAD-E85A-01FAF9235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IN" dirty="0"/>
              <a:t>Modules include:</a:t>
            </a:r>
          </a:p>
          <a:p>
            <a:pPr marL="533400" indent="-457200">
              <a:buFont typeface="+mj-lt"/>
              <a:buAutoNum type="arabicPeriod"/>
            </a:pPr>
            <a:r>
              <a:rPr lang="en-IN" sz="2800" dirty="0" err="1">
                <a:latin typeface="Courier New" panose="02070309020205020404" pitchFamily="49" charset="0"/>
              </a:rPr>
              <a:t>logger_config.py</a:t>
            </a:r>
            <a:endParaRPr lang="en-IN" sz="2800" dirty="0"/>
          </a:p>
          <a:p>
            <a:pPr marL="533400" indent="-457200">
              <a:buFont typeface="+mj-lt"/>
              <a:buAutoNum type="arabicPeriod"/>
            </a:pPr>
            <a:r>
              <a:rPr lang="en-IN" sz="2800" dirty="0" err="1">
                <a:latin typeface="Courier New" panose="02070309020205020404" pitchFamily="49" charset="0"/>
              </a:rPr>
              <a:t>config.py</a:t>
            </a:r>
            <a:endParaRPr lang="en-IN" sz="2800" dirty="0"/>
          </a:p>
          <a:p>
            <a:pPr marL="533400" indent="-457200">
              <a:buFont typeface="+mj-lt"/>
              <a:buAutoNum type="arabicPeriod"/>
            </a:pPr>
            <a:r>
              <a:rPr lang="en-IN" sz="2800" dirty="0" err="1">
                <a:latin typeface="Courier New" panose="02070309020205020404" pitchFamily="49" charset="0"/>
              </a:rPr>
              <a:t>satellite_intel.py</a:t>
            </a:r>
            <a:endParaRPr lang="en-IN" sz="2800" dirty="0"/>
          </a:p>
          <a:p>
            <a:pPr marL="533400" indent="-457200">
              <a:buFont typeface="+mj-lt"/>
              <a:buAutoNum type="arabicPeriod"/>
            </a:pPr>
            <a:r>
              <a:rPr lang="en-IN" sz="2800" dirty="0" err="1">
                <a:latin typeface="Courier New" panose="02070309020205020404" pitchFamily="49" charset="0"/>
              </a:rPr>
              <a:t>suspect_profiler.py</a:t>
            </a:r>
            <a:endParaRPr lang="en-IN" sz="2800" dirty="0"/>
          </a:p>
          <a:p>
            <a:pPr marL="533400" indent="-457200">
              <a:buFont typeface="+mj-lt"/>
              <a:buAutoNum type="arabicPeriod"/>
            </a:pPr>
            <a:r>
              <a:rPr lang="en-IN" sz="2800" dirty="0" err="1">
                <a:latin typeface="Courier New" panose="02070309020205020404" pitchFamily="49" charset="0"/>
              </a:rPr>
              <a:t>social_voice.py</a:t>
            </a:r>
            <a:endParaRPr lang="en-IN" sz="2800" dirty="0"/>
          </a:p>
          <a:p>
            <a:pPr marL="533400" indent="-457200">
              <a:buFont typeface="+mj-lt"/>
              <a:buAutoNum type="arabicPeriod"/>
            </a:pPr>
            <a:r>
              <a:rPr lang="en-IN" sz="2800" dirty="0" err="1">
                <a:latin typeface="Courier New" panose="02070309020205020404" pitchFamily="49" charset="0"/>
              </a:rPr>
              <a:t>correlation_engine.py</a:t>
            </a:r>
            <a:endParaRPr lang="en-IN" sz="2800" dirty="0"/>
          </a:p>
          <a:p>
            <a:pPr marL="533400" indent="-457200">
              <a:buFont typeface="+mj-lt"/>
              <a:buAutoNum type="arabicPeriod"/>
            </a:pPr>
            <a:r>
              <a:rPr lang="en-IN" sz="2800" dirty="0" err="1">
                <a:latin typeface="Courier New" panose="02070309020205020404" pitchFamily="49" charset="0"/>
              </a:rPr>
              <a:t>database.py</a:t>
            </a:r>
            <a:endParaRPr lang="en-IN" sz="2800" dirty="0"/>
          </a:p>
          <a:p>
            <a:pPr marL="533400" indent="-457200">
              <a:buFont typeface="+mj-lt"/>
              <a:buAutoNum type="arabicPeriod"/>
            </a:pPr>
            <a:r>
              <a:rPr lang="en-IN" sz="2800" dirty="0" err="1">
                <a:latin typeface="Courier New" panose="02070309020205020404" pitchFamily="49" charset="0"/>
              </a:rPr>
              <a:t>api_models.py</a:t>
            </a:r>
            <a:endParaRPr lang="en-IN" sz="2800" dirty="0"/>
          </a:p>
          <a:p>
            <a:pPr marL="533400" indent="-457200">
              <a:buFont typeface="+mj-lt"/>
              <a:buAutoNum type="arabicPeriod"/>
            </a:pPr>
            <a:r>
              <a:rPr lang="en-IN" sz="2800" dirty="0" err="1">
                <a:latin typeface="Courier New" panose="02070309020205020404" pitchFamily="49" charset="0"/>
              </a:rPr>
              <a:t>main_api.py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307195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Backend: Satellite Intelligence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76200" indent="0">
              <a:buNone/>
            </a:pPr>
            <a:r>
              <a:rPr lang="en-IN" dirty="0">
                <a:latin typeface="Courier New" panose="02070309020205020404" pitchFamily="49" charset="0"/>
              </a:rPr>
              <a:t>/</a:t>
            </a:r>
            <a:r>
              <a:rPr lang="en-IN" dirty="0" err="1">
                <a:latin typeface="Courier New" panose="02070309020205020404" pitchFamily="49" charset="0"/>
              </a:rPr>
              <a:t>satellite_intel.py</a:t>
            </a:r>
            <a:r>
              <a:rPr lang="en-IN" dirty="0"/>
              <a:t> implements:</a:t>
            </a:r>
          </a:p>
          <a:p>
            <a:pPr marL="76200" indent="0">
              <a:buNone/>
            </a:pPr>
            <a:endParaRPr lang="en-IN" dirty="0"/>
          </a:p>
          <a:p>
            <a:pPr marL="533400" indent="-457200">
              <a:buFont typeface="+mj-lt"/>
              <a:buAutoNum type="arabicPeriod"/>
            </a:pPr>
            <a:r>
              <a:rPr lang="en-IN" sz="3000" dirty="0" err="1"/>
              <a:t>fetch_hansen_stats</a:t>
            </a:r>
            <a:r>
              <a:rPr lang="en-IN" sz="3000" dirty="0"/>
              <a:t>()</a:t>
            </a:r>
          </a:p>
          <a:p>
            <a:pPr marL="533400" indent="-457200">
              <a:buFont typeface="+mj-lt"/>
              <a:buAutoNum type="arabicPeriod"/>
            </a:pPr>
            <a:r>
              <a:rPr lang="en-IN" sz="3000" dirty="0" err="1"/>
              <a:t>fetch_firms</a:t>
            </a:r>
            <a:r>
              <a:rPr lang="en-IN" sz="3000" dirty="0"/>
              <a:t>()</a:t>
            </a:r>
          </a:p>
          <a:p>
            <a:pPr marL="533400" indent="-457200">
              <a:buFont typeface="+mj-lt"/>
              <a:buAutoNum type="arabicPeriod"/>
            </a:pPr>
            <a:r>
              <a:rPr lang="en-IN" sz="3000" dirty="0" err="1"/>
              <a:t>fetch_glad_alerts</a:t>
            </a:r>
            <a:r>
              <a:rPr lang="en-IN" sz="3000" dirty="0"/>
              <a:t>()</a:t>
            </a:r>
          </a:p>
          <a:p>
            <a:pPr marL="533400" indent="-457200">
              <a:buFont typeface="+mj-lt"/>
              <a:buAutoNum type="arabicPeriod"/>
            </a:pPr>
            <a:r>
              <a:rPr lang="en-IN" sz="3000" dirty="0" err="1"/>
              <a:t>fetch_radd_alerts</a:t>
            </a:r>
            <a:r>
              <a:rPr lang="en-IN" sz="3000" dirty="0"/>
              <a:t>()</a:t>
            </a:r>
          </a:p>
          <a:p>
            <a:pPr marL="533400" indent="-457200">
              <a:buFont typeface="+mj-lt"/>
              <a:buAutoNum type="arabicPeriod"/>
            </a:pPr>
            <a:r>
              <a:rPr lang="en-IN" sz="3000" dirty="0" err="1"/>
              <a:t>fetch_sentinelhub_ndvi</a:t>
            </a:r>
            <a:r>
              <a:rPr lang="en-IN" sz="3000" dirty="0"/>
              <a:t>()</a:t>
            </a:r>
          </a:p>
          <a:p>
            <a:pPr marL="533400" indent="-457200">
              <a:buFont typeface="+mj-lt"/>
              <a:buAutoNum type="arabicPeriod"/>
            </a:pPr>
            <a:r>
              <a:rPr lang="en-IN" sz="3000" dirty="0" err="1"/>
              <a:t>fetch_sentinelhub_nbr</a:t>
            </a:r>
            <a:r>
              <a:rPr lang="en-IN" sz="3000" dirty="0"/>
              <a:t>()</a:t>
            </a:r>
          </a:p>
          <a:p>
            <a:pPr marL="533400" indent="-457200">
              <a:buFont typeface="+mj-lt"/>
              <a:buAutoNum type="arabicPeriod"/>
            </a:pPr>
            <a:r>
              <a:rPr lang="en-IN" sz="3000" dirty="0" err="1"/>
              <a:t>fetch_sentinelhub_burn_index</a:t>
            </a:r>
            <a:r>
              <a:rPr lang="en-IN" sz="3000" dirty="0"/>
              <a:t>()</a:t>
            </a:r>
          </a:p>
          <a:p>
            <a:pPr marL="533400" indent="-457200">
              <a:buFont typeface="+mj-lt"/>
              <a:buAutoNum type="arabicPeriod"/>
            </a:pPr>
            <a:r>
              <a:rPr lang="en-IN" sz="3000" dirty="0" err="1"/>
              <a:t>fetch_sentinelhub_truecolor</a:t>
            </a:r>
            <a:r>
              <a:rPr lang="en-IN" sz="3000" dirty="0"/>
              <a:t>()</a:t>
            </a:r>
          </a:p>
          <a:p>
            <a:pPr marL="533400" indent="-457200">
              <a:buFont typeface="+mj-lt"/>
              <a:buAutoNum type="arabicPeriod"/>
            </a:pPr>
            <a:r>
              <a:rPr lang="en-IN" sz="3000" dirty="0"/>
              <a:t>All return </a:t>
            </a:r>
            <a:r>
              <a:rPr lang="en-IN" sz="3000" dirty="0">
                <a:latin typeface="Courier New" panose="02070309020205020404" pitchFamily="49" charset="0"/>
              </a:rPr>
              <a:t>{ data:…, error:… }</a:t>
            </a:r>
            <a:r>
              <a:rPr lang="en-IN" sz="3000" dirty="0"/>
              <a:t> with robust retries.</a:t>
            </a: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IN" dirty="0">
                <a:latin typeface="Cambria"/>
                <a:ea typeface="Cambria"/>
              </a:rPr>
              <a:t>Backend: Suspect Profiling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dirty="0">
                <a:latin typeface="Courier New" panose="02070309020205020404" pitchFamily="49" charset="0"/>
              </a:rPr>
              <a:t>/</a:t>
            </a:r>
            <a:r>
              <a:rPr lang="en-IN" dirty="0" err="1">
                <a:latin typeface="Courier New" panose="02070309020205020404" pitchFamily="49" charset="0"/>
              </a:rPr>
              <a:t>suspect_profiler.py</a:t>
            </a:r>
            <a:endParaRPr lang="en-IN" dirty="0">
              <a:latin typeface="Courier New" panose="02070309020205020404" pitchFamily="49" charset="0"/>
            </a:endParaRPr>
          </a:p>
          <a:p>
            <a:pPr marL="76200" indent="0">
              <a:buNone/>
            </a:pPr>
            <a:endParaRPr lang="en-IN" sz="2800" dirty="0"/>
          </a:p>
          <a:p>
            <a:pPr marL="533400" indent="-457200">
              <a:buFont typeface="+mj-lt"/>
              <a:buAutoNum type="arabicPeriod"/>
            </a:pPr>
            <a:r>
              <a:rPr lang="en-IN" sz="2800" dirty="0"/>
              <a:t>Identify nearby factories via Overpass</a:t>
            </a:r>
          </a:p>
          <a:p>
            <a:pPr marL="533400" indent="-457200">
              <a:buFont typeface="+mj-lt"/>
              <a:buAutoNum type="arabicPeriod"/>
            </a:pPr>
            <a:r>
              <a:rPr lang="en-IN" sz="2800" dirty="0"/>
              <a:t>Fuzzy match factory names</a:t>
            </a:r>
          </a:p>
          <a:p>
            <a:pPr marL="533400" indent="-457200">
              <a:buFont typeface="+mj-lt"/>
              <a:buAutoNum type="arabicPeriod"/>
            </a:pPr>
            <a:r>
              <a:rPr lang="en-IN" sz="2800" dirty="0"/>
              <a:t>Enrich with GLEIF API (LEI, parent company, jurisdiction)</a:t>
            </a:r>
          </a:p>
          <a:p>
            <a:pPr marL="533400" indent="-457200">
              <a:buFont typeface="+mj-lt"/>
              <a:buAutoNum type="arabicPeriod"/>
            </a:pPr>
            <a:r>
              <a:rPr lang="en-IN" sz="2800" dirty="0"/>
              <a:t>Rank suspects using proximity + timing + sentiment impact</a:t>
            </a: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F7EE5-4CDA-4943-C382-BC08077A1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74499"/>
            <a:ext cx="10668000" cy="487500"/>
          </a:xfrm>
        </p:spPr>
        <p:txBody>
          <a:bodyPr/>
          <a:lstStyle/>
          <a:p>
            <a:r>
              <a:rPr lang="en-IN" dirty="0"/>
              <a:t>Backend: Social Voice Analysis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50BA4-4398-D13A-E615-CADCE4A93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IN" dirty="0">
                <a:latin typeface="Courier New" panose="02070309020205020404" pitchFamily="49" charset="0"/>
              </a:rPr>
              <a:t>/</a:t>
            </a:r>
            <a:r>
              <a:rPr lang="en-IN" dirty="0" err="1">
                <a:latin typeface="Courier New" panose="02070309020205020404" pitchFamily="49" charset="0"/>
              </a:rPr>
              <a:t>social_voice.py</a:t>
            </a:r>
            <a:endParaRPr lang="en-IN" dirty="0">
              <a:latin typeface="Courier New" panose="02070309020205020404" pitchFamily="49" charset="0"/>
            </a:endParaRPr>
          </a:p>
          <a:p>
            <a:pPr marL="76200" indent="0">
              <a:buNone/>
            </a:pPr>
            <a:endParaRPr lang="en-IN" dirty="0"/>
          </a:p>
          <a:p>
            <a:pPr marL="533400" indent="-457200">
              <a:buFont typeface="+mj-lt"/>
              <a:buAutoNum type="arabicPeriod"/>
            </a:pPr>
            <a:r>
              <a:rPr lang="en-IN" dirty="0"/>
              <a:t>Fetches and computes sentiment:</a:t>
            </a:r>
          </a:p>
          <a:p>
            <a:pPr marL="533400" indent="-457200">
              <a:buFont typeface="+mj-lt"/>
              <a:buAutoNum type="arabicPeriod"/>
            </a:pPr>
            <a:r>
              <a:rPr lang="en-IN" dirty="0"/>
              <a:t>Google News</a:t>
            </a:r>
          </a:p>
          <a:p>
            <a:pPr marL="533400" indent="-457200">
              <a:buFont typeface="+mj-lt"/>
              <a:buAutoNum type="arabicPeriod"/>
            </a:pPr>
            <a:r>
              <a:rPr lang="en-IN" dirty="0"/>
              <a:t>GDELT</a:t>
            </a:r>
          </a:p>
          <a:p>
            <a:pPr marL="533400" indent="-457200">
              <a:buFont typeface="+mj-lt"/>
              <a:buAutoNum type="arabicPeriod"/>
            </a:pPr>
            <a:r>
              <a:rPr lang="en-IN" dirty="0" err="1"/>
              <a:t>Reddit</a:t>
            </a:r>
            <a:r>
              <a:rPr lang="en-IN" dirty="0"/>
              <a:t> (with </a:t>
            </a:r>
            <a:r>
              <a:rPr lang="en-IN" dirty="0" err="1"/>
              <a:t>fallback</a:t>
            </a:r>
            <a:r>
              <a:rPr lang="en-IN" dirty="0"/>
              <a:t> if locked)</a:t>
            </a:r>
            <a:br>
              <a:rPr lang="en-IN" dirty="0"/>
            </a:br>
            <a:r>
              <a:rPr lang="en-IN" dirty="0"/>
              <a:t>Weights: </a:t>
            </a:r>
            <a:r>
              <a:rPr lang="en-IN" b="1" dirty="0"/>
              <a:t>0.5 (news) / 0.3 (GDELT) / 0.2 (</a:t>
            </a:r>
            <a:r>
              <a:rPr lang="en-IN" b="1" dirty="0" err="1"/>
              <a:t>Reddit</a:t>
            </a:r>
            <a:r>
              <a:rPr lang="en-IN" b="1" dirty="0"/>
              <a:t>)</a:t>
            </a:r>
            <a:endParaRPr lang="en-IN" dirty="0"/>
          </a:p>
          <a:p>
            <a:pPr marL="533400" indent="-457200">
              <a:buFont typeface="+mj-lt"/>
              <a:buAutoNum type="arabicPeriod"/>
            </a:pPr>
            <a:r>
              <a:rPr lang="en-IN" dirty="0"/>
              <a:t>Outputs:</a:t>
            </a:r>
          </a:p>
          <a:p>
            <a:pPr marL="533400" indent="-457200">
              <a:buFont typeface="+mj-lt"/>
              <a:buAutoNum type="arabicPeriod"/>
            </a:pPr>
            <a:r>
              <a:rPr lang="en-IN" dirty="0" err="1"/>
              <a:t>sentiment_score</a:t>
            </a:r>
            <a:endParaRPr lang="en-IN" dirty="0"/>
          </a:p>
          <a:p>
            <a:pPr marL="533400" indent="-457200">
              <a:buFont typeface="+mj-lt"/>
              <a:buAutoNum type="arabicPeriod"/>
            </a:pPr>
            <a:r>
              <a:rPr lang="en-IN" dirty="0"/>
              <a:t>evidence of public concern</a:t>
            </a:r>
          </a:p>
        </p:txBody>
      </p:sp>
    </p:spTree>
    <p:extLst>
      <p:ext uri="{BB962C8B-B14F-4D97-AF65-F5344CB8AC3E}">
        <p14:creationId xmlns:p14="http://schemas.microsoft.com/office/powerpoint/2010/main" val="3130700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9E1E1-06B6-E6C3-89D4-D686CAAF6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SLIDE 13 — Backend: Correlation Engine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5FCB7-97F4-86F9-5B08-827E1D973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IN" dirty="0"/>
              <a:t>Rules:</a:t>
            </a:r>
          </a:p>
          <a:p>
            <a:r>
              <a:rPr lang="en-IN" dirty="0"/>
              <a:t>Fire within 14 days of loss
Proximity ≤ 5 km
NDVI drop / NBR drop increases weight
Burn index spike increases suspicion
Negative sentiment raises confidence</a:t>
            </a:r>
          </a:p>
          <a:p>
            <a:endParaRPr lang="en-IN" dirty="0"/>
          </a:p>
          <a:p>
            <a:pPr marL="76200" indent="0">
              <a:buNone/>
            </a:pPr>
            <a:r>
              <a:rPr lang="en-IN" dirty="0"/>
              <a:t>Output:</a:t>
            </a:r>
          </a:p>
          <a:p>
            <a:r>
              <a:rPr lang="en-IN" dirty="0"/>
              <a:t> Evidence Chain (natural language)
 Confidence Score (0–100)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066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E547-CF3D-E042-4DD0-FCEC1CF1D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Frontend: Dashboard Tech Stack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3B6BB-F73A-5759-AEE2-F9FDCF2B8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React (</a:t>
            </a:r>
            <a:r>
              <a:rPr lang="en-IN" sz="3200" dirty="0" err="1"/>
              <a:t>Vite</a:t>
            </a:r>
            <a:r>
              <a:rPr lang="en-IN" sz="3200" dirty="0"/>
              <a:t>)
Tailwind CSS
react-leaflet (map layers)
</a:t>
            </a:r>
            <a:r>
              <a:rPr lang="en-IN" sz="3200" dirty="0" err="1"/>
              <a:t>recharts</a:t>
            </a:r>
            <a:r>
              <a:rPr lang="en-IN" sz="3200" dirty="0"/>
              <a:t> (graphs)
</a:t>
            </a:r>
            <a:r>
              <a:rPr lang="en-IN" sz="3200" dirty="0" err="1"/>
              <a:t>lucide</a:t>
            </a:r>
            <a:r>
              <a:rPr lang="en-IN" sz="3200" dirty="0"/>
              <a:t>-react (icons)
</a:t>
            </a:r>
            <a:r>
              <a:rPr lang="en-IN" sz="3200" dirty="0" err="1"/>
              <a:t>axios</a:t>
            </a:r>
            <a:r>
              <a:rPr lang="en-IN" sz="3200" dirty="0"/>
              <a:t>/fetch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14991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3CCC5-1E3C-A31E-44E6-BA054CA2D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Key Features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50E31-6F51-AB30-32DF-15009FADF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Multi-layer satellite map
NDVI / NBR overlays
Fire markers
Forest loss polygons
Industry nodes
Evidence polylines
Dossier viewer
Source errors &amp; coverage notes
Health check widget
Sentinel preview panel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09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FCBA7-7426-D90D-4A42-C1725D60E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 Diagram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83621-4432-6EFE-B98D-6AEBE8419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64F280-37EA-D03A-4648-7343237CD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020440"/>
            <a:ext cx="10566400" cy="507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623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2C634-2657-8445-6E96-DDBA237F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Workflow of the System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B3345-5F7B-53BE-AFA0-EDE8BE0A9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33400" indent="-457200">
              <a:buFont typeface="+mj-lt"/>
              <a:buAutoNum type="arabicPeriod"/>
            </a:pPr>
            <a:r>
              <a:rPr lang="en-IN" sz="3200" dirty="0"/>
              <a:t>User selects Region or </a:t>
            </a:r>
            <a:r>
              <a:rPr lang="en-IN" sz="3200" dirty="0" err="1"/>
              <a:t>Bbox</a:t>
            </a:r>
            <a:r>
              <a:rPr lang="en-IN" sz="3200" dirty="0"/>
              <a:t>
Backend fetches multi-source data
Normalizes, correlates &amp; stores raw results
Builds Forensic Dossier JSON
Frontend renders evidence on map
Shows confidence + suspects + sentiment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78757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70BAD-F640-5F91-BCE9-C67A10925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Deliverables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35192-B343-FCD5-B861-9ADF514E8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799" y="1143000"/>
            <a:ext cx="9138163" cy="4583831"/>
          </a:xfrm>
        </p:spPr>
        <p:txBody>
          <a:bodyPr>
            <a:noAutofit/>
          </a:bodyPr>
          <a:lstStyle/>
          <a:p>
            <a:r>
              <a:rPr lang="en-IN" sz="2800" dirty="0"/>
              <a:t>Complete </a:t>
            </a:r>
            <a:r>
              <a:rPr lang="en-IN" sz="2800" dirty="0" err="1"/>
              <a:t>FastAPI</a:t>
            </a:r>
            <a:r>
              <a:rPr lang="en-IN" sz="2800" dirty="0"/>
              <a:t> backend
React dashboard
Forensic dossier generator
Multi-layer evidence visualizer
Project report
Unit + Integration tests
Docker environment
Raw data archive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75310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30BB2-69AD-D2E6-E266-9E69B454C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Link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E950C-40C5-9E21-CFC1-D10F91360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763011"/>
            <a:ext cx="11090492" cy="2484783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US" sz="3200" dirty="0">
                <a:hlinkClick r:id="rId2"/>
              </a:rPr>
              <a:t>https://github.com/alxinjoy/Criminal-Profiling-Using-OSINT-Environmental-Infrastructure-Crimes-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54529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E8F9B-C860-DBDC-5E19-51BFC262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Timeline (Gantt Chart)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1A8ED6-80BA-3D14-AE96-BC4813930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361" y="1078892"/>
            <a:ext cx="8832878" cy="497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527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>
                <a:latin typeface="Cambria"/>
                <a:ea typeface="Cambria"/>
              </a:rPr>
              <a:t>Conclusion</a:t>
            </a:r>
            <a:endParaRPr dirty="0">
              <a:latin typeface="Cambria"/>
              <a:ea typeface="Cambria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794684" cy="349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IN" sz="4000" dirty="0">
                <a:latin typeface="Calibri"/>
                <a:ea typeface="Calibri"/>
                <a:cs typeface="Calibri"/>
              </a:rPr>
              <a:t>This project demonstrates how multi-source OSINT + satellite analytics can be unified to provide a defensible forensic chain for environmental crime investigations.</a:t>
            </a:r>
            <a:endParaRPr lang="en-US" sz="40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39AC9-CD8C-08CB-BED0-EF86EB3A4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5EA2F-BEB5-5BFD-B88E-7C5112D72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8899" y="993913"/>
            <a:ext cx="9592997" cy="4472608"/>
          </a:xfrm>
        </p:spPr>
        <p:txBody>
          <a:bodyPr>
            <a:noAutofit/>
          </a:bodyPr>
          <a:lstStyle/>
          <a:p>
            <a:pPr marL="76200" indent="0">
              <a:buNone/>
            </a:pPr>
            <a:r>
              <a:rPr lang="en-IN" sz="1200" dirty="0"/>
              <a:t>[1] Aditya, B.L.V.S. And </a:t>
            </a:r>
            <a:r>
              <a:rPr lang="en-IN" sz="1200" dirty="0" err="1"/>
              <a:t>Mohanty</a:t>
            </a:r>
            <a:r>
              <a:rPr lang="en-IN" sz="1200" dirty="0"/>
              <a:t>, S.N., 2023. </a:t>
            </a:r>
            <a:r>
              <a:rPr lang="en-IN" sz="1200" dirty="0" err="1"/>
              <a:t>Heterogenous</a:t>
            </a:r>
            <a:r>
              <a:rPr lang="en-IN" sz="1200" dirty="0"/>
              <a:t> Social Media Analysis for Efficient Deep Learning Fake-Profile Identification. IEEE Access, 11, pp.99342-99351. </a:t>
            </a:r>
          </a:p>
          <a:p>
            <a:pPr marL="76200" indent="0">
              <a:buNone/>
            </a:pPr>
            <a:r>
              <a:rPr lang="en-IN" sz="1200" dirty="0"/>
              <a:t>[2] </a:t>
            </a:r>
            <a:r>
              <a:rPr lang="en-IN" sz="1200" dirty="0" err="1"/>
              <a:t>Bogomolov</a:t>
            </a:r>
            <a:r>
              <a:rPr lang="en-IN" sz="1200" dirty="0"/>
              <a:t>, A., </a:t>
            </a:r>
            <a:r>
              <a:rPr lang="en-IN" sz="1200" dirty="0" err="1"/>
              <a:t>Lepri</a:t>
            </a:r>
            <a:r>
              <a:rPr lang="en-IN" sz="1200" dirty="0"/>
              <a:t>, B., </a:t>
            </a:r>
            <a:r>
              <a:rPr lang="en-IN" sz="1200" dirty="0" err="1"/>
              <a:t>Staiano</a:t>
            </a:r>
            <a:r>
              <a:rPr lang="en-IN" sz="1200" dirty="0"/>
              <a:t>, J., Oliver, N., </a:t>
            </a:r>
            <a:r>
              <a:rPr lang="en-IN" sz="1200" dirty="0" err="1"/>
              <a:t>Pianesi</a:t>
            </a:r>
            <a:r>
              <a:rPr lang="en-IN" sz="1200" dirty="0"/>
              <a:t>, F. And </a:t>
            </a:r>
            <a:r>
              <a:rPr lang="en-IN" sz="1200" dirty="0" err="1"/>
              <a:t>Pentland</a:t>
            </a:r>
            <a:r>
              <a:rPr lang="en-IN" sz="1200" dirty="0"/>
              <a:t>, A., 2014. Once Upon a Crime: Towards Crime Prediction from Demographics and Mobile Data. </a:t>
            </a:r>
            <a:r>
              <a:rPr lang="en-IN" sz="1200" dirty="0" err="1"/>
              <a:t>arXiv</a:t>
            </a:r>
            <a:r>
              <a:rPr lang="en-IN" sz="1200" dirty="0"/>
              <a:t> preprint arXiv:1409.2983.[</a:t>
            </a:r>
          </a:p>
          <a:p>
            <a:pPr marL="76200" indent="0">
              <a:buNone/>
            </a:pPr>
            <a:r>
              <a:rPr lang="en-IN" sz="1200" dirty="0"/>
              <a:t>3] </a:t>
            </a:r>
            <a:r>
              <a:rPr lang="en-IN" sz="1200" dirty="0" err="1"/>
              <a:t>Chainey</a:t>
            </a:r>
            <a:r>
              <a:rPr lang="en-IN" sz="1200" dirty="0"/>
              <a:t>, S.P. And </a:t>
            </a:r>
            <a:r>
              <a:rPr lang="en-IN" sz="1200" dirty="0" err="1"/>
              <a:t>Berbotto</a:t>
            </a:r>
            <a:r>
              <a:rPr lang="en-IN" sz="1200" dirty="0"/>
              <a:t>, A.A., 2021. A structured methodical process for populating a crime script of organized crime activity using OSINT. Trends in Organized Crime, 25(3), pp.298-318.[</a:t>
            </a:r>
          </a:p>
          <a:p>
            <a:pPr marL="76200" indent="0">
              <a:buNone/>
            </a:pPr>
            <a:r>
              <a:rPr lang="en-IN" sz="1200" dirty="0"/>
              <a:t>4] </a:t>
            </a:r>
            <a:r>
              <a:rPr lang="en-IN" sz="1200" dirty="0" err="1"/>
              <a:t>Gibellini</a:t>
            </a:r>
            <a:r>
              <a:rPr lang="en-IN" sz="1200" dirty="0"/>
              <a:t>, F., </a:t>
            </a:r>
            <a:r>
              <a:rPr lang="en-IN" sz="1200" dirty="0" err="1"/>
              <a:t>Fraternali</a:t>
            </a:r>
            <a:r>
              <a:rPr lang="en-IN" sz="1200" dirty="0"/>
              <a:t>, P., </a:t>
            </a:r>
            <a:r>
              <a:rPr lang="en-IN" sz="1200" dirty="0" err="1"/>
              <a:t>Boracchi</a:t>
            </a:r>
            <a:r>
              <a:rPr lang="en-IN" sz="1200" dirty="0"/>
              <a:t>, G., </a:t>
            </a:r>
            <a:r>
              <a:rPr lang="en-IN" sz="1200" dirty="0" err="1"/>
              <a:t>Morandini</a:t>
            </a:r>
            <a:r>
              <a:rPr lang="en-IN" sz="1200" dirty="0"/>
              <a:t>, L., </a:t>
            </a:r>
            <a:r>
              <a:rPr lang="en-IN" sz="1200" dirty="0" err="1"/>
              <a:t>Martinoli</a:t>
            </a:r>
            <a:r>
              <a:rPr lang="en-IN" sz="1200" dirty="0"/>
              <a:t>, T., </a:t>
            </a:r>
            <a:r>
              <a:rPr lang="en-IN" sz="1200" dirty="0" err="1"/>
              <a:t>Diecidue</a:t>
            </a:r>
            <a:r>
              <a:rPr lang="en-IN" sz="1200" dirty="0"/>
              <a:t>, A. And </a:t>
            </a:r>
            <a:r>
              <a:rPr lang="en-IN" sz="1200" dirty="0" err="1"/>
              <a:t>Malegori</a:t>
            </a:r>
            <a:r>
              <a:rPr lang="en-IN" sz="1200" dirty="0"/>
              <a:t>, S., 2025. A Deep Learning Pipeline for Solid Waste Detection in Remote Sensing Images. Waste Management Bulletin. DOI: 10.1016/j.wmb.2025.100246.</a:t>
            </a:r>
          </a:p>
          <a:p>
            <a:pPr marL="76200" indent="0">
              <a:buNone/>
            </a:pPr>
            <a:r>
              <a:rPr lang="en-IN" sz="1200" dirty="0"/>
              <a:t>[5] </a:t>
            </a:r>
            <a:r>
              <a:rPr lang="en-IN" sz="1200" dirty="0" err="1"/>
              <a:t>Hajela</a:t>
            </a:r>
            <a:r>
              <a:rPr lang="en-IN" sz="1200" dirty="0"/>
              <a:t>, G., Chawla, M. And </a:t>
            </a:r>
            <a:r>
              <a:rPr lang="en-IN" sz="1200" dirty="0" err="1"/>
              <a:t>Rasool</a:t>
            </a:r>
            <a:r>
              <a:rPr lang="en-IN" sz="1200" dirty="0"/>
              <a:t>, A., 2020. A Clustering Based </a:t>
            </a:r>
            <a:r>
              <a:rPr lang="en-IN" sz="1200" dirty="0" err="1"/>
              <a:t>HotspotIdentification</a:t>
            </a:r>
            <a:r>
              <a:rPr lang="en-IN" sz="1200" dirty="0"/>
              <a:t> Approach For Crime Prediction. Procedia Computer Science, 167, pp.1462-1470.</a:t>
            </a:r>
          </a:p>
          <a:p>
            <a:pPr marL="76200" indent="0">
              <a:buNone/>
            </a:pPr>
            <a:r>
              <a:rPr lang="en-IN" sz="1200" dirty="0"/>
              <a:t>[6] </a:t>
            </a:r>
            <a:r>
              <a:rPr lang="en-IN" sz="1200" dirty="0" err="1"/>
              <a:t>Katzner</a:t>
            </a:r>
            <a:r>
              <a:rPr lang="en-IN" sz="1200" dirty="0"/>
              <a:t>, T., Thomason, E., </a:t>
            </a:r>
            <a:r>
              <a:rPr lang="en-IN" sz="1200" dirty="0" err="1"/>
              <a:t>Huhmann</a:t>
            </a:r>
            <a:r>
              <a:rPr lang="en-IN" sz="1200" dirty="0"/>
              <a:t>, K., Conkling, T., Concepcion, C., </a:t>
            </a:r>
            <a:r>
              <a:rPr lang="en-IN" sz="1200" dirty="0" err="1"/>
              <a:t>Slabe</a:t>
            </a:r>
            <a:r>
              <a:rPr lang="en-IN" sz="1200" dirty="0"/>
              <a:t>, V. And </a:t>
            </a:r>
            <a:r>
              <a:rPr lang="en-IN" sz="1200" dirty="0" err="1"/>
              <a:t>Poessel</a:t>
            </a:r>
            <a:r>
              <a:rPr lang="en-IN" sz="1200" dirty="0"/>
              <a:t>, S., 2022. Open-source intelligence for conservation biology. Conservation Biology, 37(1), p.e13988.</a:t>
            </a:r>
          </a:p>
          <a:p>
            <a:pPr marL="76200" indent="0">
              <a:buNone/>
            </a:pPr>
            <a:r>
              <a:rPr lang="en-IN" sz="1200" dirty="0"/>
              <a:t>[7]</a:t>
            </a:r>
            <a:r>
              <a:rPr lang="en-IN" sz="1200" dirty="0" err="1"/>
              <a:t>Kebede</a:t>
            </a:r>
            <a:r>
              <a:rPr lang="en-IN" sz="1200" dirty="0"/>
              <a:t>, H.A., </a:t>
            </a:r>
            <a:r>
              <a:rPr lang="en-IN" sz="1200" dirty="0" err="1"/>
              <a:t>Assen</a:t>
            </a:r>
            <a:r>
              <a:rPr lang="en-IN" sz="1200" dirty="0"/>
              <a:t>, M.M. And </a:t>
            </a:r>
            <a:r>
              <a:rPr lang="en-IN" sz="1200" dirty="0" err="1"/>
              <a:t>Sharew</a:t>
            </a:r>
            <a:r>
              <a:rPr lang="en-IN" sz="1200" dirty="0"/>
              <a:t>, M.A., 2025. Crime Hotspot Analysis and Mapping Using Geospatial Technology in Dessie City, Ethiopia. </a:t>
            </a:r>
            <a:r>
              <a:rPr lang="en-IN" sz="1200" dirty="0" err="1"/>
              <a:t>arXiv</a:t>
            </a:r>
            <a:r>
              <a:rPr lang="en-IN" sz="1200" dirty="0"/>
              <a:t> preprint arXiv:2501.00036.</a:t>
            </a:r>
          </a:p>
          <a:p>
            <a:pPr marL="76200" indent="0">
              <a:buNone/>
            </a:pPr>
            <a:r>
              <a:rPr lang="en-IN" sz="1200" dirty="0"/>
              <a:t>[8] Liu, Y., Shen, X., Zhang, Y., Wang, Z., Tian, Y., Dai, J. And Cao, Y., 2025. A systematic review of machine learning approaches for detecting deceptive activities on social media: methods, challenges, and biases. International Journal of Data Science and Analytics, 20(7), pp.6157-6182.</a:t>
            </a:r>
          </a:p>
          <a:p>
            <a:pPr marL="76200" indent="0">
              <a:buNone/>
            </a:pPr>
            <a:r>
              <a:rPr lang="en-IN" sz="1200" dirty="0"/>
              <a:t>[9] </a:t>
            </a:r>
            <a:r>
              <a:rPr lang="en-IN" sz="1200" dirty="0" err="1"/>
              <a:t>Palaniswamy</a:t>
            </a:r>
            <a:r>
              <a:rPr lang="en-IN" sz="1200" dirty="0"/>
              <a:t>, S., </a:t>
            </a:r>
            <a:r>
              <a:rPr lang="en-IN" sz="1200" dirty="0" err="1"/>
              <a:t>Yadhunath</a:t>
            </a:r>
            <a:r>
              <a:rPr lang="en-IN" sz="1200" dirty="0"/>
              <a:t>, R., </a:t>
            </a:r>
            <a:r>
              <a:rPr lang="en-IN" sz="1200" dirty="0" err="1"/>
              <a:t>Srikanth</a:t>
            </a:r>
            <a:r>
              <a:rPr lang="en-IN" sz="1200" dirty="0"/>
              <a:t>, S. And </a:t>
            </a:r>
            <a:r>
              <a:rPr lang="en-IN" sz="1200" dirty="0" err="1"/>
              <a:t>Sudheer</a:t>
            </a:r>
            <a:r>
              <a:rPr lang="en-IN" sz="1200" dirty="0"/>
              <a:t>, A., 2019. Identification of Criminal Activity Hotspots using Machine Learning to Aid in Effective Utilization of Police Patrolling in Cities with High Crime Rates. In: 2019 4</a:t>
            </a:r>
            <a:r>
              <a:rPr lang="en-IN" sz="1200" baseline="30000" dirty="0"/>
              <a:t>th</a:t>
            </a:r>
            <a:r>
              <a:rPr lang="en-IN" sz="1200" dirty="0"/>
              <a:t> International </a:t>
            </a:r>
            <a:r>
              <a:rPr lang="en-IN" sz="1200" dirty="0" err="1"/>
              <a:t>Conferenceon</a:t>
            </a:r>
            <a:r>
              <a:rPr lang="en-IN" sz="1200" dirty="0"/>
              <a:t> Computational Systems and Information Technology for Sustainable Solution (CSITSS).IEEE, pp. 268-273 (Approx. Page range).</a:t>
            </a:r>
          </a:p>
          <a:p>
            <a:pPr marL="76200" indent="0">
              <a:buNone/>
            </a:pPr>
            <a:r>
              <a:rPr lang="en-IN" sz="1200" dirty="0"/>
              <a:t>[10] Zhang, X., Liu, L., Xiao, L. And Ji, J., 2020. Comparison of Machine </a:t>
            </a:r>
            <a:r>
              <a:rPr lang="en-IN" sz="1200" dirty="0" err="1"/>
              <a:t>LearningAlgorithms</a:t>
            </a:r>
            <a:r>
              <a:rPr lang="en-IN" sz="1200" dirty="0"/>
              <a:t> for Predicting Crime Hotspots. IEEE Access, 8, pp.181300-181310.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20713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288</Words>
  <Application>Microsoft Office PowerPoint</Application>
  <PresentationFormat>Widescreen</PresentationFormat>
  <Paragraphs>67</Paragraphs>
  <Slides>25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Bioinformatics</vt:lpstr>
      <vt:lpstr>Criminal Profiling Using OSINT(Environmental &amp; Infrastructure Crimes)</vt:lpstr>
      <vt:lpstr>Problem Statement Number: </vt:lpstr>
      <vt:lpstr>Content</vt:lpstr>
      <vt:lpstr>Problem Statement</vt:lpstr>
      <vt:lpstr>Project Goal</vt:lpstr>
      <vt:lpstr>Scope &amp; Objectives</vt:lpstr>
      <vt:lpstr>Background &amp; Related Work</vt:lpstr>
      <vt:lpstr>Innovation &amp; Novel Contributions</vt:lpstr>
      <vt:lpstr>Primary Data Sources</vt:lpstr>
      <vt:lpstr>Non-Functional Requirements</vt:lpstr>
      <vt:lpstr>Backend Architecture Overview</vt:lpstr>
      <vt:lpstr>Backend: Satellite Intelligence</vt:lpstr>
      <vt:lpstr>Backend: Suspect Profiling</vt:lpstr>
      <vt:lpstr>Backend: Social Voice Analysis</vt:lpstr>
      <vt:lpstr>SLIDE 13 — Backend: Correlation Engine</vt:lpstr>
      <vt:lpstr>Frontend: Dashboard Tech Stack</vt:lpstr>
      <vt:lpstr>Dashboard Key Features</vt:lpstr>
      <vt:lpstr>System Architecture Diagram</vt:lpstr>
      <vt:lpstr>Workflow of the System</vt:lpstr>
      <vt:lpstr>Expected Deliverables</vt:lpstr>
      <vt:lpstr>GitHub Link</vt:lpstr>
      <vt:lpstr>Timeline (Gantt Chart)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albin joy</cp:lastModifiedBy>
  <cp:revision>230</cp:revision>
  <dcterms:modified xsi:type="dcterms:W3CDTF">2025-12-02T13:53:01Z</dcterms:modified>
</cp:coreProperties>
</file>